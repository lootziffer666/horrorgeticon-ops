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HALLOWEEN-HORROR-EVENT · PITCH · SAISON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2994A"/>
                </a:solidFill>
                <a:latin typeface="Nunito"/>
              </a:rPr>
              <a:t>🩸 HORRORGETICON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8F6F2"/>
                </a:solidFill>
                <a:latin typeface="Nunito"/>
              </a:rPr>
              <a:t>Der Leitstand für Kunstblut,
Crew und Kontrollverlust.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FD9E6"/>
                </a:solidFill>
                <a:latin typeface="DM Sans"/>
              </a:rPr>
              <a:t>Wir machen aus der Horrornacht einen blutigen, aber </a:t>
            </a:r>
            <a:r>
              <a:rPr sz="1700" b="1">
                <a:solidFill>
                  <a:srgbClr val="F2994A"/>
                </a:solidFill>
                <a:latin typeface="DM Sans"/>
              </a:rPr>
              <a:t>führbaren</a:t>
            </a:r>
            <a:r>
              <a:rPr sz="1700" b="0">
                <a:solidFill>
                  <a:srgbClr val="CFD9E6"/>
                </a:solidFill>
                <a:latin typeface="DM Sans"/>
              </a:rPr>
              <a:t> Betrieb.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57200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8F8EF"/>
          </a:solidFill>
          <a:ln w="9525">
            <a:solidFill>
              <a:srgbClr val="BFE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1E7A45"/>
                </a:solidFill>
                <a:latin typeface="DM Sans"/>
              </a:rPr>
              <a:t>● Läuft bereits — keine Folienfiktion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57200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CFD9E6"/>
                </a:solidFill>
                <a:latin typeface="DM Sans"/>
              </a:rPr>
              <a:t>52 Crew · 5 Mazes im Demo-Szenario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57200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CFD9E6"/>
                </a:solidFill>
                <a:latin typeface="DM Sans"/>
              </a:rPr>
              <a:t>172 automatische Tests, alle grün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45720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 w="9525">
            <a:solidFill>
              <a:srgbClr val="F4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B03A3A"/>
                </a:solidFill>
                <a:latin typeface="DM Sans"/>
              </a:rPr>
              <a:t>Excel: degradiert</a:t>
            </a:r>
          </a:p>
        </p:txBody>
      </p:sp>
      <p:sp>
        <p:nvSpPr>
          <p:cNvPr id="10" name="Rectangle 9"/>
          <p:cNvSpPr/>
          <p:nvPr/>
        </p:nvSpPr>
        <p:spPr>
          <a:xfrm rot="120000">
            <a:off x="8229600" y="1005840"/>
            <a:ext cx="310896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Alles, was in diesem Deck nach Screenshot aussieht, IST ein Screenshot. Live, klickbar, heute zeigbar.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E93A9"/>
                </a:solidFill>
                <a:latin typeface="DM Sans"/>
              </a:rPr>
              <a:t>Horrorgeticon Ops · Pitchdeck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7E93A9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23:40 UHR · IRGENDWO AUF DEM GELÄNDE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2847"/>
                </a:solidFill>
                <a:latin typeface="Nunito"/>
              </a:rPr>
              <a:t>Ein Gast hat die Absperrung im </a:t>
            </a:r>
            <a:r>
              <a:rPr sz="2400" b="1">
                <a:solidFill>
                  <a:srgbClr val="E08936"/>
                </a:solidFill>
                <a:latin typeface="Nunito"/>
              </a:rPr>
              <a:t>Asylum</a:t>
            </a:r>
            <a:r>
              <a:rPr sz="2400" b="1">
                <a:solidFill>
                  <a:srgbClr val="0D2847"/>
                </a:solidFill>
                <a:latin typeface="Nunito"/>
              </a:rPr>
              <a:t> durchbrochen. Der Maze Lead steht im Funkloch. Zwei Actors wollen gleichzeitig Pause. Am Catering-Zelt verhandelt jemand sehr überzeugend seine </a:t>
            </a:r>
            <a:r>
              <a:rPr sz="2400" b="1">
                <a:solidFill>
                  <a:srgbClr val="E08936"/>
                </a:solidFill>
                <a:latin typeface="Nunito"/>
              </a:rPr>
              <a:t>dritte</a:t>
            </a:r>
            <a:r>
              <a:rPr sz="2400" b="1">
                <a:solidFill>
                  <a:srgbClr val="0D2847"/>
                </a:solidFill>
                <a:latin typeface="Nunito"/>
              </a:rPr>
              <a:t> Portion Backfisch.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7947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F4F4F"/>
                </a:solidFill>
                <a:latin typeface="DM Sans"/>
              </a:rPr>
              <a:t>Und die Wahrheit über all das liegt verteilt auf drei WhatsApp-Gruppen, zwei Zettel und eine Datei namens </a:t>
            </a:r>
            <a:r>
              <a:rPr sz="1500" b="1">
                <a:solidFill>
                  <a:srgbClr val="0D2847"/>
                </a:solidFill>
                <a:latin typeface="DM Sans"/>
              </a:rPr>
              <a:t>einsatzplan_final_v3_NEU(2).xlsx</a:t>
            </a:r>
            <a:r>
              <a:rPr sz="1500" b="0">
                <a:solidFill>
                  <a:srgbClr val="4F4F4F"/>
                </a:solidFill>
                <a:latin typeface="DM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2847"/>
                </a:solidFill>
                <a:latin typeface="Nunito"/>
              </a:rPr>
              <a:t>Genau für diese Minute ist Horrorgeticon Ops gebaut.</a:t>
            </a:r>
          </a:p>
        </p:txBody>
      </p:sp>
      <p:sp>
        <p:nvSpPr>
          <p:cNvPr id="6" name="Rectangle 5"/>
          <p:cNvSpPr/>
          <p:nvPr/>
        </p:nvSpPr>
        <p:spPr>
          <a:xfrm rot="21480000">
            <a:off x="8138160" y="5394960"/>
            <a:ext cx="320040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Jede Ähnlichkeit mit real existierenden Eventnächten ist kein Zufall, sondern der Pitch.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02 · Die Ausgangslage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DAS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D2847"/>
                </a:solidFill>
                <a:latin typeface="Nunito"/>
              </a:rPr>
              <a:t>Excel kann Listen. Aber keine Lage. 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F4F4F"/>
                </a:solidFill>
                <a:latin typeface="DM Sans"/>
              </a:rPr>
              <a:t>Eine Horrornacht ist kein Datenblatt, sondern ein bewegliches Durcheinander mit Funkgerät. Tabellen sind stark bei Listen — und schwach bei Eskalation, Zuständigkeit und Live-Entscheidungen.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7440"/>
            <a:ext cx="350215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📊 Excel dokumentiert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…dass es um 01:13 Uhr schlimm war. Hinterher. Wenn der Schaden längst ein Anekdotenformat 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2377440"/>
            <a:ext cx="350215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🚨 Die Nacht eskaliert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Verspätete Actors, offene Funkchecks, Pausenwünsche, blockierte Aufgaben, hungrige Crew, halbleere Mazes — gleichzeitig.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47304" y="2377440"/>
            <a:ext cx="350215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🧠 Ops greift vorher ein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Zustände live erkennen, Risiken markieren, Zuständigkeit zuweisen — bevor aus Chaos eine Chronik wird.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2847"/>
                </a:solidFill>
                <a:latin typeface="DM Sans"/>
              </a:rPr>
              <a:t>LAGE</a:t>
            </a:r>
            <a:r>
              <a:rPr sz="1400" b="0">
                <a:solidFill>
                  <a:srgbClr val="4F4F4F"/>
                </a:solidFill>
                <a:latin typeface="DM Sans"/>
              </a:rPr>
              <a:t> statt </a:t>
            </a:r>
            <a:r>
              <a:rPr sz="1400" b="0">
                <a:solidFill>
                  <a:srgbClr val="828282"/>
                </a:solidFill>
                <a:latin typeface="DM Sans"/>
              </a:rPr>
              <a:t>LISTE.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03 ·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DAS PRODUKT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D2847"/>
                </a:solidFill>
                <a:latin typeface="Nunito"/>
              </a:rPr>
              <a:t>Ein Betriebssystem für die Eventnacht. 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F4F4F"/>
                </a:solidFill>
                <a:latin typeface="DM Sans"/>
              </a:rPr>
              <a:t>Vier Rollen, vier Geräte, eine zentrale Wahrheit. Rollen sehen nicht alles — sie sehen genau das, was sie jetzt führt.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2606040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🕹️ Management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Desktop-Leitstand: Live-KPIs, Phasen, Readiness, Vorfälle, Entscheidungen.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008" y="2331720"/>
            <a:ext cx="2606040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🧭 Maze Leads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Tablet: Team, Karte, Rundgänge, Pausen-Freigaben, Übergaben.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216" y="2331720"/>
            <a:ext cx="2606040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🎭 Scare Actors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Phone: Schichtkarte, Status, Aufgaben, Warnungen, Chat, Marken-Wallet.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2331720"/>
            <a:ext cx="2606040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🐟 Catering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Station: QR-Marken scannen, Guthaben prüfen, Frieden an der Fritteuse sichern.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28282"/>
                </a:solidFill>
                <a:latin typeface="DM Sans"/>
              </a:rPr>
              <a:t>Zentrale Wahrheit: Phasen · Aufgaben · Meldungen · Marken · Journal · Backups</a:t>
            </a:r>
          </a:p>
        </p:txBody>
      </p:sp>
      <p:sp>
        <p:nvSpPr>
          <p:cNvPr id="10" name="Rectangle 9"/>
          <p:cNvSpPr/>
          <p:nvPr/>
        </p:nvSpPr>
        <p:spPr>
          <a:xfrm rot="120000">
            <a:off x="8321040" y="5486400"/>
            <a:ext cx="301752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Kein „Tool-Zoo“: eine Plattform, vier Sichten. Die Crew installiert nichts — Browser reicht.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04 · Produkt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LIVE-DEMO ·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D2847"/>
                </a:solidFill>
                <a:latin typeface="Nunito"/>
              </a:rPr>
              <a:t>Der Leitstand. Das ist kein Mockup.</a:t>
            </a:r>
          </a:p>
        </p:txBody>
      </p:sp>
      <p:pic>
        <p:nvPicPr>
          <p:cNvPr id="4" name="Picture 3" descr="desktop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7315200" cy="4572000"/>
          </a:xfrm>
          <a:prstGeom prst="rect">
            <a:avLst/>
          </a:prstGeom>
          <a:ln w="12700">
            <a:solidFill>
              <a:srgbClr val="E6E1D8"/>
            </a:solidFill>
          </a:ln>
        </p:spPr>
      </p:pic>
      <p:sp>
        <p:nvSpPr>
          <p:cNvPr id="5" name="Rectangle 4"/>
          <p:cNvSpPr/>
          <p:nvPr/>
        </p:nvSpPr>
        <p:spPr>
          <a:xfrm rot="120000">
            <a:off x="8275320" y="1737360"/>
            <a:ext cx="320040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„Sind wir bereit?“ ist hier eine Zahl, kein Bauchgefühl: 48/52 da, 3 Meldungen offen, 1 davon Prio hoch.</a:t>
            </a:r>
          </a:p>
        </p:txBody>
      </p:sp>
      <p:sp>
        <p:nvSpPr>
          <p:cNvPr id="6" name="Rectangle 5"/>
          <p:cNvSpPr/>
          <p:nvPr/>
        </p:nvSpPr>
        <p:spPr>
          <a:xfrm rot="21510000">
            <a:off x="8275320" y="3291840"/>
            <a:ext cx="320040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Pausen-Anfragen kommen mit Springer-Vorschlag — Freigabe ist ein Klick, kein Funkroman.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05 · Leitstand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LIVE-DEMO · LAGEBILD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D2847"/>
                </a:solidFill>
                <a:latin typeface="Nunito"/>
              </a:rPr>
              <a:t>Wer steht wo? Die Karte weiß es. 🗺️</a:t>
            </a:r>
          </a:p>
        </p:txBody>
      </p:sp>
      <p:pic>
        <p:nvPicPr>
          <p:cNvPr id="4" name="Picture 3" descr="desktop-liv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7315200" cy="4572000"/>
          </a:xfrm>
          <a:prstGeom prst="rect">
            <a:avLst/>
          </a:prstGeom>
          <a:ln w="12700">
            <a:solidFill>
              <a:srgbClr val="E6E1D8"/>
            </a:solidFill>
          </a:ln>
        </p:spPr>
      </p:pic>
      <p:sp>
        <p:nvSpPr>
          <p:cNvPr id="5" name="Rectangle 4"/>
          <p:cNvSpPr/>
          <p:nvPr/>
        </p:nvSpPr>
        <p:spPr>
          <a:xfrm rot="120000">
            <a:off x="8275320" y="1737360"/>
            <a:ext cx="320040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Geräte senden alle 25 s einen Heartbeat (inkl. Akku). 90 s Funkstille → Status „Verbindung?“ — bevor jemand wirklich fehlt.</a:t>
            </a:r>
          </a:p>
        </p:txBody>
      </p:sp>
      <p:sp>
        <p:nvSpPr>
          <p:cNvPr id="6" name="Rectangle 5"/>
          <p:cNvSpPr/>
          <p:nvPr/>
        </p:nvSpPr>
        <p:spPr>
          <a:xfrm rot="21510000">
            <a:off x="8275320" y="3383280"/>
            <a:ext cx="320040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Gelände-Zonen + Maze-Detail bis auf die einzelne Position: A8 „Keller“ hat einen Vorfall, A6 ist unbesetzt.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06 · Live-Karte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EVENT-PHASEN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D2847"/>
                </a:solidFill>
                <a:latin typeface="Nunito"/>
              </a:rPr>
              <a:t>Vorbereitung. Aufbau. Live. Abschluss. 🕰️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F4F4F"/>
                </a:solidFill>
                <a:latin typeface="DM Sans"/>
              </a:rPr>
              <a:t>Nicht: „irgendwie heute Abend“. Die Plattform kennt die Phase — und jede Sicht zeigt genau das, was in dieser Phase zählt.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260604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1 · Vorbereitung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Planung, Crew-Import, Checklisten, Zuteilung.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008" y="2468880"/>
            <a:ext cx="260604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2 · Aufbau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Stationen, Funkchecks, Mazes hochfahren, Rundgänge.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216" y="2468880"/>
            <a:ext cx="260604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8575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3 · LIVE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Leitstand, SLA, Pausen, Vorfälle, Durchsagen.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2468880"/>
            <a:ext cx="260604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4 · Abschluss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Übergabe, Protokoll, Auswertung, Feierabend.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28282"/>
                </a:solidFill>
                <a:latin typeface="DM Sans"/>
              </a:rPr>
              <a:t>Phasenwechsel per Klick in der Topbar — auf Wunsch mit automatischer Durchsage an alle.</a:t>
            </a:r>
          </a:p>
        </p:txBody>
      </p:sp>
      <p:sp>
        <p:nvSpPr>
          <p:cNvPr id="10" name="Rectangle 9"/>
          <p:cNvSpPr/>
          <p:nvPr/>
        </p:nvSpPr>
        <p:spPr>
          <a:xfrm rot="120000">
            <a:off x="8138160" y="5120640"/>
            <a:ext cx="320040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Der Actor um 17:00 braucht andere Infos als der Actor um 23:00. Die App weiß das von allein.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07 · Phasen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AUFGABEN &amp;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847"/>
                </a:solidFill>
                <a:latin typeface="Nunito"/>
              </a:rPr>
              <a:t>Aufgaben müssen nicht nur existieren. Sie müssen landen. 📍</a:t>
            </a:r>
          </a:p>
        </p:txBody>
      </p:sp>
      <p:pic>
        <p:nvPicPr>
          <p:cNvPr id="4" name="Picture 3" descr="desktop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6583680" cy="4114800"/>
          </a:xfrm>
          <a:prstGeom prst="rect">
            <a:avLst/>
          </a:prstGeom>
          <a:ln w="12700">
            <a:solidFill>
              <a:srgbClr val="E6E1D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543800" y="1508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D2847"/>
                </a:solidFill>
                <a:latin typeface="DM Sans"/>
              </a:rPr>
              <a:t>OFFEN → ANGENOMMEN → IN ARBEIT → ERLEDIGT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965960"/>
            <a:ext cx="393192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🔥 Kritisches landet im Feed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Prio hoch? Frist reißt? Blocker? Wird sichtbar, bevor es ein Ritual wird.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3310128"/>
            <a:ext cx="393192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🧱 Blocker brauchen Begründung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Kein verschwundenes „kannst du mal kurz“. Jede Blockade bekommt Kontext.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4654296"/>
            <a:ext cx="393192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🎯 Ziel: Maze oder Person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Der Auftrag landet dort, wo er gelöst werden kann — nicht im Gruppenchat-Sumpf.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08 · Aufgaben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LIVE-DEMO · MAZE-LEITUNG (TABLET)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847"/>
                </a:solidFill>
                <a:latin typeface="Nunito"/>
              </a:rPr>
              <a:t>Der Lead führt sein Maze. Nicht seine Zettelwirtschaft. 🧭</a:t>
            </a:r>
          </a:p>
        </p:txBody>
      </p:sp>
      <p:pic>
        <p:nvPicPr>
          <p:cNvPr id="4" name="Picture 3" descr="tablet-l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6949440" cy="4829272"/>
          </a:xfrm>
          <a:prstGeom prst="rect">
            <a:avLst/>
          </a:prstGeom>
          <a:ln w="12700">
            <a:solidFill>
              <a:srgbClr val="E6E1D8"/>
            </a:solidFill>
          </a:ln>
        </p:spPr>
      </p:pic>
      <p:sp>
        <p:nvSpPr>
          <p:cNvPr id="5" name="Rectangle 4"/>
          <p:cNvSpPr/>
          <p:nvPr/>
        </p:nvSpPr>
        <p:spPr>
          <a:xfrm rot="120000">
            <a:off x="7955279" y="1828800"/>
            <a:ext cx="347472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Lena braucht 10 Minuten? Freigeben oder „in 15 min“ — mit Springer-Vorschlag. Entschieden in 4 Sekunden.</a:t>
            </a:r>
          </a:p>
        </p:txBody>
      </p:sp>
      <p:sp>
        <p:nvSpPr>
          <p:cNvPr id="6" name="Rectangle 5"/>
          <p:cNvSpPr/>
          <p:nvPr/>
        </p:nvSpPr>
        <p:spPr>
          <a:xfrm rot="21510000">
            <a:off x="7955279" y="3474720"/>
            <a:ext cx="347472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Vorfälle kann der Lead direkt übernehmen. Plus Rundgänge mit Pflichtpunkten und druckbarem Übergabeprotokoll.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09 · Maze-Leitung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LIVE-DEMO · SCARE ACTOR (PHONE)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847"/>
                </a:solidFill>
                <a:latin typeface="Nunito"/>
              </a:rPr>
              <a:t>Der wichtigste UX-Case trägt ein Kostüm. 🎭</a:t>
            </a:r>
          </a:p>
        </p:txBody>
      </p:sp>
      <p:pic>
        <p:nvPicPr>
          <p:cNvPr id="4" name="Picture 3" descr="phone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1965960" cy="4254539"/>
          </a:xfrm>
          <a:prstGeom prst="rect">
            <a:avLst/>
          </a:prstGeom>
          <a:ln w="12700">
            <a:solidFill>
              <a:srgbClr val="E6E1D8"/>
            </a:solidFill>
          </a:ln>
        </p:spPr>
      </p:pic>
      <p:pic>
        <p:nvPicPr>
          <p:cNvPr id="5" name="Picture 4" descr="phone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554480"/>
            <a:ext cx="1965960" cy="4254539"/>
          </a:xfrm>
          <a:prstGeom prst="rect">
            <a:avLst/>
          </a:prstGeom>
          <a:ln w="12700">
            <a:solidFill>
              <a:srgbClr val="E6E1D8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212080" y="1600200"/>
            <a:ext cx="62636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👁️ Was Lena sieht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Schichtkarte mit Live-Fortschritt, Detail-Status (Bereit · Maske · Backstage · Auf Position), Aufgaben, Warnungen, Wallet.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3017520"/>
            <a:ext cx="62636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📣 Was sie melden kann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Pause, Getränk, Blocker, Warnung mit automatischer Position — und „Ich verspäte mich“ mit ETA, sogar vor dem Check-in.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4434840"/>
            <a:ext cx="62636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🧟 Die Design-Wahrheit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Der Mensch im Kostüm muss nicht wissen, welche Excel-Version stimmt. Er muss wissen, was JETZT zu tun 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28282"/>
                </a:solidFill>
                <a:latin typeface="DM Sans"/>
              </a:rPr>
              <a:t>Kostümfreundlich. Müdigkeitsresistent. Blutgruppenneutral.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10 · Actor-App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MELDUNGEN · SLA · ENTSCHEIDUNGEN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847"/>
                </a:solidFill>
                <a:latin typeface="Nunito"/>
              </a:rPr>
              <a:t>Panik ist erlaubt. Unklare Zuständigkeit nicht. 🚨</a:t>
            </a:r>
          </a:p>
        </p:txBody>
      </p:sp>
      <p:pic>
        <p:nvPicPr>
          <p:cNvPr id="4" name="Picture 3" descr="desktop-inci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6583680" cy="4114800"/>
          </a:xfrm>
          <a:prstGeom prst="rect">
            <a:avLst/>
          </a:prstGeom>
          <a:ln w="12700">
            <a:solidFill>
              <a:srgbClr val="E6E1D8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7543800" y="1600200"/>
            <a:ext cx="39319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⏱️ Vorfälle mit SLA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P1 bis P3, Reaktionszeiten laufen mit, Überfällig-Badges leuchten. Ø-Reaktionszeit als KPI.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3035808"/>
            <a:ext cx="39319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🧾 Entscheidungslog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Wer hat entschieden? Warum? Was wurde umgesetzt, was bleibt offen? Steht drin.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4471416"/>
            <a:ext cx="39319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🔍 Kein Chat-Puzzle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Die Nachbesprechung liest ein Protokoll — keine 400 Nachrichten quer durch drei Gruppen.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11 · Meldungen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CATERING · MARKEN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2847"/>
                </a:solidFill>
                <a:latin typeface="Nunito"/>
              </a:rPr>
              <a:t>Backfisch ist kein Bauchgefühl. Backfisch ist ein Kontingent. 🐟</a:t>
            </a:r>
          </a:p>
        </p:txBody>
      </p:sp>
      <p:pic>
        <p:nvPicPr>
          <p:cNvPr id="4" name="Picture 3" descr="phone-wal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783080" cy="3858768"/>
          </a:xfrm>
          <a:prstGeom prst="rect">
            <a:avLst/>
          </a:prstGeom>
          <a:ln w="12700">
            <a:solidFill>
              <a:srgbClr val="E6E1D8"/>
            </a:solidFill>
          </a:ln>
        </p:spPr>
      </p:pic>
      <p:pic>
        <p:nvPicPr>
          <p:cNvPr id="5" name="Picture 4" descr="station-cat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600200"/>
            <a:ext cx="5760720" cy="4003212"/>
          </a:xfrm>
          <a:prstGeom prst="rect">
            <a:avLst/>
          </a:prstGeom>
          <a:ln w="12700">
            <a:solidFill>
              <a:srgbClr val="E6E1D8"/>
            </a:solidFill>
          </a:ln>
        </p:spPr>
      </p:pic>
      <p:sp>
        <p:nvSpPr>
          <p:cNvPr id="6" name="Rectangle 5"/>
          <p:cNvSpPr/>
          <p:nvPr/>
        </p:nvSpPr>
        <p:spPr>
          <a:xfrm rot="120000">
            <a:off x="8778240" y="1920240"/>
            <a:ext cx="274320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Personengebundenes Guthaben beendet die Frittenpolitik am Ausgabezelt. Diplomatisch. Endgültig.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71500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4F4F4F"/>
                </a:solidFill>
                <a:latin typeface="DM Sans"/>
              </a:rPr>
              <a:t>🔁 Rotierender Einmal-Code (60-s-Fenster)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57150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4F4F4F"/>
                </a:solidFill>
                <a:latin typeface="DM Sans"/>
              </a:rPr>
              <a:t>📵 Screenshot? Wertlos.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571500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4F4F4F"/>
                </a:solidFill>
                <a:latin typeface="DM Sans"/>
              </a:rPr>
              <a:t>🔍 Tageszähler &amp; Stationenlog: doppelte Portion prüfbar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12 · Backfisch — Die Würde der Fritteuse bleibt unangetastet.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BETRIEB &amp; ÜBERGABE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847"/>
                </a:solidFill>
                <a:latin typeface="Nunito"/>
              </a:rPr>
              <a:t>Nach der Nacht bleibt kein Nebel. Sondern ein Protokoll. 📄</a:t>
            </a:r>
          </a:p>
        </p:txBody>
      </p:sp>
      <p:pic>
        <p:nvPicPr>
          <p:cNvPr id="4" name="Picture 3" descr="desktop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6583680" cy="4114800"/>
          </a:xfrm>
          <a:prstGeom prst="rect">
            <a:avLst/>
          </a:prstGeom>
          <a:ln w="12700">
            <a:solidFill>
              <a:srgbClr val="E6E1D8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7543800" y="1600200"/>
            <a:ext cx="39319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🤝 Lead-Übergaben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Offene Aufgaben, Vorfälle, Checklisten, Pausen, unbesetzte Positionen, Entscheidungen — alles, was die nächste Person nicht erraten sollte.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3035808"/>
            <a:ext cx="39319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🖨️ Druckbar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Für Einsatzleitung, Nachbesprechung und den Morgen danach.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4471416"/>
            <a:ext cx="39319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0D2847"/>
                </a:solidFill>
                <a:latin typeface="Nunito"/>
              </a:rPr>
              <a:t>👻 Offenes bleibt offen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F4F4F"/>
                </a:solidFill>
                <a:latin typeface="DM Sans"/>
              </a:rPr>
              <a:t>Aber sichtbar, benannt — und nicht im Nebel verschollen. Aus „weiß noch jemand…?“ wird „hier ist der Stand“.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13 · Übergabe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TECHNIK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8F6F2"/>
                </a:solidFill>
                <a:latin typeface="Nunito"/>
              </a:rPr>
              <a:t>Gebaut für Acker, LAN und müde Menschen. 🖥️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FD9E6"/>
                </a:solidFill>
                <a:latin typeface="DM Sans"/>
              </a:rPr>
              <a:t>Dünne Geräte, zentrale Wahrheit, robuste Betriebslogik. Läuft auf einem Laptop im Crew-Büro — kein Cloud-Zwang, keine Abhängigkeit von Festival-WLAN-Wundern.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7440"/>
            <a:ext cx="3502152" cy="2377440"/>
          </a:xfrm>
          <a:prstGeom prst="roundRect">
            <a:avLst>
              <a:gd name="adj" fmla="val 7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F8F6F2"/>
                </a:solidFill>
                <a:latin typeface="Nunito"/>
              </a:rPr>
              <a:t>🧩 Null Abhängigkeiten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9C6D6"/>
                </a:solidFill>
                <a:latin typeface="DM Sans"/>
              </a:rPr>
              <a:t>Ein Node.js-Server, keine fremden Pakete. PWA im Browser, native Shells für Windows/Android/iOS optional. Weniger Magie, mehr Kontrolle im Feld.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2377440"/>
            <a:ext cx="3502152" cy="2377440"/>
          </a:xfrm>
          <a:prstGeom prst="roundRect">
            <a:avLst>
              <a:gd name="adj" fmla="val 7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F8F6F2"/>
                </a:solidFill>
                <a:latin typeface="Nunito"/>
              </a:rPr>
              <a:t>⚡ Live ohne Refresh-Ritual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9C6D6"/>
                </a:solidFill>
                <a:latin typeface="DM Sans"/>
              </a:rPr>
              <a:t>Server-Sent Events pushen jede Änderung an alle Sichten. Heartbeats erkennen Funklöcher, bevor sie ein Problem sind.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47304" y="2377440"/>
            <a:ext cx="3502152" cy="2377440"/>
          </a:xfrm>
          <a:prstGeom prst="roundRect">
            <a:avLst>
              <a:gd name="adj" fmla="val 7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/>
            <a:r>
              <a:rPr sz="1250" b="1">
                <a:solidFill>
                  <a:srgbClr val="F8F6F2"/>
                </a:solidFill>
                <a:latin typeface="Nunito"/>
              </a:rPr>
              <a:t>🛡️ Unkaputtbar gedacht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9C6D6"/>
                </a:solidFill>
                <a:latin typeface="DM Sans"/>
              </a:rPr>
              <a:t>Append-only-Journal, atomare Snapshots, rotierende Backups, Selbstreparatur beim Start. Stolpert ein Modul, läuft der Rest weiter (Circuit-Breaker).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12064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CFD9E6"/>
                </a:solidFill>
                <a:latin typeface="DM Sans"/>
              </a:rPr>
              <a:t>125 API-End-to-End-Checks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51206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CFD9E6"/>
                </a:solidFill>
                <a:latin typeface="DM Sans"/>
              </a:rPr>
              <a:t>47 Browser-E2E-Checks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5120640"/>
            <a:ext cx="4389120" cy="329184"/>
          </a:xfrm>
          <a:prstGeom prst="roundRect">
            <a:avLst>
              <a:gd name="adj" fmla="val 50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CFD9E6"/>
                </a:solidFill>
                <a:latin typeface="DM Sans"/>
              </a:rPr>
              <a:t>CSV-Import mit Dry-Run — eure Excel darf einmal noch glänzen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E93A9"/>
                </a:solidFill>
                <a:latin typeface="DM Sans"/>
              </a:rPr>
              <a:t>14 · Technik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7E93A9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ERWARTUNGSMANAGEMENT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D2847"/>
                </a:solidFill>
                <a:latin typeface="Nunito"/>
              </a:rPr>
              <a:t>Ehrlich gesagt — was es nicht ist. 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F4F4F"/>
                </a:solidFill>
                <a:latin typeface="DM Sans"/>
              </a:rPr>
              <a:t>Damit wir über dasselbe reden. Lieber jetzt als am 31.10. um 22:15 Uhr.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EB5757"/>
                </a:solidFill>
                <a:latin typeface="DM Sans"/>
              </a:rPr>
              <a:t>✗  </a:t>
            </a:r>
            <a:r>
              <a:rPr sz="1300" b="0">
                <a:solidFill>
                  <a:srgbClr val="4F4F4F"/>
                </a:solidFill>
                <a:latin typeface="DM Sans"/>
              </a:rPr>
              <a:t> Kein Ticketing oder Gäste-Einlass — es führt die Crew, nicht die Besucherschlange.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EB5757"/>
                </a:solidFill>
                <a:latin typeface="DM Sans"/>
              </a:rPr>
              <a:t>✗  </a:t>
            </a:r>
            <a:r>
              <a:rPr sz="1300" b="0">
                <a:solidFill>
                  <a:srgbClr val="4F4F4F"/>
                </a:solidFill>
                <a:latin typeface="DM Sans"/>
              </a:rPr>
              <a:t> Ersetzt keinen Funk. Es sorgt dafür, dass Funk wieder für Wichtiges frei ist.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EB5757"/>
                </a:solidFill>
                <a:latin typeface="DM Sans"/>
              </a:rPr>
              <a:t>✗  </a:t>
            </a:r>
            <a:r>
              <a:rPr sz="1300" b="0">
                <a:solidFill>
                  <a:srgbClr val="4F4F4F"/>
                </a:solidFill>
                <a:latin typeface="DM Sans"/>
              </a:rPr>
              <a:t> Keine Magie: Eure Stammdaten müssen einmal sauber rein. (CSV reicht, Dry-Run inklusive.)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2402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27AE60"/>
                </a:solidFill>
                <a:latin typeface="DM Sans"/>
              </a:rPr>
              <a:t>✓  </a:t>
            </a:r>
            <a:r>
              <a:rPr sz="1300" b="0">
                <a:solidFill>
                  <a:srgbClr val="4F4F4F"/>
                </a:solidFill>
                <a:latin typeface="DM Sans"/>
              </a:rPr>
              <a:t> Dafür: ein System, das die komplette Eventnacht kennt — von Aufbau bis Übergabe.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27AE60"/>
                </a:solidFill>
                <a:latin typeface="DM Sans"/>
              </a:rPr>
              <a:t>✓  </a:t>
            </a:r>
            <a:r>
              <a:rPr sz="1300" b="0">
                <a:solidFill>
                  <a:srgbClr val="4F4F4F"/>
                </a:solidFill>
                <a:latin typeface="DM Sans"/>
              </a:rPr>
              <a:t> Dafür: ein Testlauf VOR der Saison, damit die Generalprobe die Probleme findet, nicht die Premiere.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27AE60"/>
                </a:solidFill>
                <a:latin typeface="DM Sans"/>
              </a:rPr>
              <a:t>✓  </a:t>
            </a:r>
            <a:r>
              <a:rPr sz="1300" b="0">
                <a:solidFill>
                  <a:srgbClr val="4F4F4F"/>
                </a:solidFill>
                <a:latin typeface="DM Sans"/>
              </a:rPr>
              <a:t> Dafür: ich bin in der Eventnacht erreichbar — nicht „der Support meldet sich werktags“.</a:t>
            </a:r>
          </a:p>
        </p:txBody>
      </p:sp>
      <p:sp>
        <p:nvSpPr>
          <p:cNvPr id="7" name="Rectangle 6"/>
          <p:cNvSpPr/>
          <p:nvPr/>
        </p:nvSpPr>
        <p:spPr>
          <a:xfrm rot="120000">
            <a:off x="8138160" y="5394960"/>
            <a:ext cx="3200400" cy="868680"/>
          </a:xfrm>
          <a:prstGeom prst="rect">
            <a:avLst/>
          </a:prstGeom>
          <a:solidFill>
            <a:srgbClr val="FDF6E3"/>
          </a:solidFill>
          <a:ln w="12700">
            <a:solidFill>
              <a:srgbClr val="E2B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>
            <a:noAutofit/>
          </a:bodyPr>
          <a:lstStyle/>
          <a:p>
            <a:pPr algn="ctr"/>
            <a:r>
              <a:rPr sz="950" b="1">
                <a:solidFill>
                  <a:srgbClr val="6B5A1E"/>
                </a:solidFill>
                <a:latin typeface="Nunito"/>
              </a:rPr>
              <a:t>Ein Pitch, der Grenzen benennt, ist keiner mit Schwäche — sondern einer mit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15 · Ehrlich gesagt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DER WEG ZUR SAISON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2847"/>
                </a:solidFill>
                <a:latin typeface="Nunito"/>
              </a:rPr>
              <a:t>Von „klingt spannend“ zu „läuft live“ in sechs Schritten. 🗓️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F4F4F"/>
                </a:solidFill>
                <a:latin typeface="DM Sans"/>
              </a:rPr>
              <a:t>Bewusst mit Puffer: Die Generalprobe findet die Probleme, nicht die Premiere.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17007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sz="1000" b="1">
                <a:solidFill>
                  <a:srgbClr val="E08936"/>
                </a:solidFill>
                <a:latin typeface="DM Sans"/>
              </a:rPr>
              <a:t>JUNI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D2847"/>
                </a:solidFill>
                <a:latin typeface="Nunito"/>
              </a:rPr>
              <a:t>Demo-Termin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F4F4F"/>
                </a:solidFill>
                <a:latin typeface="DM Sans"/>
              </a:rPr>
              <a:t>30 min, Live-System, eure Fragen. Der Termin, den dieses Deck anpeilt.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5456" y="2468880"/>
            <a:ext cx="17007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sz="1000" b="1">
                <a:solidFill>
                  <a:srgbClr val="E08936"/>
                </a:solidFill>
                <a:latin typeface="DM Sans"/>
              </a:rPr>
              <a:t>JULI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D2847"/>
                </a:solidFill>
                <a:latin typeface="Nunito"/>
              </a:rPr>
              <a:t>Setup &amp; Daten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F4F4F"/>
                </a:solidFill>
                <a:latin typeface="DM Sans"/>
              </a:rPr>
              <a:t>Crew per CSV rein, Mazes &amp; Zonen, Rollen, Marken-Kontingente.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2468880"/>
            <a:ext cx="17007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sz="1000" b="1">
                <a:solidFill>
                  <a:srgbClr val="E08936"/>
                </a:solidFill>
                <a:latin typeface="DM Sans"/>
              </a:rPr>
              <a:t>AUGUST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D2847"/>
                </a:solidFill>
                <a:latin typeface="Nunito"/>
              </a:rPr>
              <a:t>Schulung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F4F4F"/>
                </a:solidFill>
                <a:latin typeface="DM Sans"/>
              </a:rPr>
              <a:t>2 kurze Sessions: Leitstand &amp; Leads, Catering &amp; Actors. Mit Spickzetteln.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2468880"/>
            <a:ext cx="17007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sz="1000" b="1">
                <a:solidFill>
                  <a:srgbClr val="E08936"/>
                </a:solidFill>
                <a:latin typeface="DM Sans"/>
              </a:rPr>
              <a:t>SEPTEMBER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D2847"/>
                </a:solidFill>
                <a:latin typeface="Nunito"/>
              </a:rPr>
              <a:t>Generalprobe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F4F4F"/>
                </a:solidFill>
                <a:latin typeface="DM Sans"/>
              </a:rPr>
              <a:t>Trockenlauf mit echter Crew, Funkprobe, Checklisten scharf.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4424" y="2468880"/>
            <a:ext cx="17007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sz="1000" b="1">
                <a:solidFill>
                  <a:srgbClr val="E08936"/>
                </a:solidFill>
                <a:latin typeface="DM Sans"/>
              </a:rPr>
              <a:t>OKTOBER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D2847"/>
                </a:solidFill>
                <a:latin typeface="Nunito"/>
              </a:rPr>
              <a:t>🎃 Live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F4F4F"/>
                </a:solidFill>
                <a:latin typeface="DM Sans"/>
              </a:rPr>
              <a:t>Eventnacht(en) mit Support vor Ort bzw. Rufbereitschaft.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2468880"/>
            <a:ext cx="17007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sz="1000" b="1">
                <a:solidFill>
                  <a:srgbClr val="E08936"/>
                </a:solidFill>
                <a:latin typeface="DM Sans"/>
              </a:rPr>
              <a:t>NOVEMBER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D2847"/>
                </a:solidFill>
                <a:latin typeface="Nunito"/>
              </a:rPr>
              <a:t>Nachlese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F4F4F"/>
                </a:solidFill>
                <a:latin typeface="DM Sans"/>
              </a:rPr>
              <a:t>Berichte, Lessons Learned, Wunschliste für nächstes Jahr.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16 ·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INVESTITION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D2847"/>
                </a:solidFill>
                <a:latin typeface="Nunito"/>
              </a:rPr>
              <a:t>Die Entwicklung ist schon bezahlt — mit Herzblut. 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9844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F4F4F"/>
                </a:solidFill>
                <a:latin typeface="DM Sans"/>
              </a:rPr>
              <a:t>Die Plattform existiert, ihr zahlt keine Produktentwicklung. Was bleibt, ist das Saisonpaket: Einrichtung, Schulung, Generalprobe, Eventnacht-Support und Nachlese — zum Freundschaftspreis.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560320"/>
            <a:ext cx="43891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828282"/>
                </a:solidFill>
                <a:latin typeface="DM Sans"/>
              </a:rPr>
              <a:t>MARKTÜBLICH FÜR DIESEN UMFANG</a:t>
            </a:r>
          </a:p>
          <a:p>
            <a:pPr algn="ctr">
              <a:spcBef>
                <a:spcPts val="800"/>
              </a:spcBef>
            </a:pPr>
            <a:r>
              <a:rPr sz="4000" b="1" strike="sngStrike">
                <a:solidFill>
                  <a:srgbClr val="828282"/>
                </a:solidFill>
                <a:latin typeface="Nunito"/>
              </a:rPr>
              <a:t>9.400 €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828282"/>
                </a:solidFill>
                <a:latin typeface="DM Sans"/>
              </a:rPr>
              <a:t>Saisonpaket, ohne Plattform-Entwicklung
(die läge nochmal deutlich fünfstellig drüber)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3474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2994A"/>
                </a:solidFill>
                <a:latin typeface="Nunito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560320"/>
            <a:ext cx="43891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08936"/>
                </a:solidFill>
                <a:latin typeface="DM Sans"/>
              </a:rPr>
              <a:t>FREUNDSCHAFTSPREIS · SAISON 2026</a:t>
            </a:r>
          </a:p>
          <a:p>
            <a:pPr algn="ctr">
              <a:spcBef>
                <a:spcPts val="800"/>
              </a:spcBef>
            </a:pPr>
            <a:r>
              <a:rPr sz="4000" b="1">
                <a:solidFill>
                  <a:srgbClr val="0D2847"/>
                </a:solidFill>
                <a:latin typeface="Nunito"/>
              </a:rPr>
              <a:t>3.400 €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4F4F4F"/>
                </a:solidFill>
                <a:latin typeface="DM Sans"/>
              </a:rPr>
              <a:t>komplett — inkl. Eventnacht vor Ort.
Details &amp; Positionen im Beiblatt „Kostenaufstellung“.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28282"/>
                </a:solidFill>
                <a:latin typeface="DM Sans"/>
              </a:rPr>
              <a:t>Zahlbar 50 % bei Start, 50 % nach der Eventnacht. Backfisch-Garantie: siehe Beiblatt. 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828282"/>
                </a:solidFill>
                <a:latin typeface="DM Sans"/>
              </a:rPr>
              <a:t>17 · Investition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828282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2994A"/>
                </a:solidFill>
                <a:latin typeface="DM Sans"/>
              </a:rPr>
              <a:t>ABSCHLUSS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8F6F2"/>
                </a:solidFill>
                <a:latin typeface="Nunito"/>
              </a:rPr>
              <a:t>Die Horrornacht darf </a:t>
            </a:r>
            <a:r>
              <a:rPr sz="4600" b="1">
                <a:solidFill>
                  <a:srgbClr val="F2994A"/>
                </a:solidFill>
                <a:latin typeface="Nunito"/>
              </a:rPr>
              <a:t>eskalieren.</a:t>
            </a:r>
          </a:p>
          <a:p>
            <a:r>
              <a:rPr sz="4600" b="1">
                <a:solidFill>
                  <a:srgbClr val="F8F6F2"/>
                </a:solidFill>
                <a:latin typeface="Nunito"/>
              </a:rPr>
              <a:t>Die Orga nicht.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FD9E6"/>
                </a:solidFill>
                <a:latin typeface="DM Sans"/>
              </a:rPr>
              <a:t>Horrorgeticon Ops nimmt der Veranstaltung nicht den Wahnsinn. Nur den falschen.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0690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CFD9E6"/>
                </a:solidFill>
                <a:latin typeface="DM Sans"/>
              </a:rPr>
              <a:t>🩸 Kunstblut bleibt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40690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CFD9E6"/>
                </a:solidFill>
                <a:latin typeface="DM Sans"/>
              </a:rPr>
              <a:t>😱 Schreie bleiben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40690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43255"/>
          </a:solidFill>
          <a:ln w="9525">
            <a:solidFill>
              <a:srgbClr val="2A4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CFD9E6"/>
                </a:solidFill>
                <a:latin typeface="DM Sans"/>
              </a:rPr>
              <a:t>🐟 Backfisch bleibt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0690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 w="9525">
            <a:solidFill>
              <a:srgbClr val="F4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B03A3A"/>
                </a:solidFill>
                <a:latin typeface="DM Sans"/>
              </a:rPr>
              <a:t>📉 Excel wird Importformat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846320"/>
            <a:ext cx="9418320" cy="868680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71628"/>
                </a:solidFill>
                <a:latin typeface="Nunito"/>
              </a:rPr>
              <a:t>→  30 Minuten Demo-Termin. Ich bringe das Live-System mit, ihr bringt die Skepsis.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E93A9"/>
                </a:solidFill>
                <a:latin typeface="DM Sans"/>
              </a:rPr>
              <a:t>18 · Demo planen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5566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i="1">
                <a:solidFill>
                  <a:srgbClr val="7E93A9"/>
                </a:solidFill>
                <a:latin typeface="DM Sans"/>
              </a:rPr>
              <a:t>Excel darf wieder schlafen.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